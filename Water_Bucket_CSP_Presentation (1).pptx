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FB5B9-5B89-4556-B2BA-D8CE04FD1EBE}" v="4" dt="2026-10-15T14:22:17.2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143" autoAdjust="0"/>
  </p:normalViewPr>
  <p:slideViewPr>
    <p:cSldViewPr snapToGrid="0" snapToObjects="1">
      <p:cViewPr varScale="1">
        <p:scale>
          <a:sx n="91" d="100"/>
          <a:sy n="91" d="100"/>
        </p:scale>
        <p:origin x="131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co Alexandre Amado Rodrigues" userId="51c1c676-cb32-40f7-943f-886d28f58b59" providerId="ADAL" clId="{72AEFD76-FAC0-4E55-A7CA-C12DB0E39421}"/>
    <pc:docChg chg="modSld">
      <pc:chgData name="Vasco Alexandre Amado Rodrigues" userId="51c1c676-cb32-40f7-943f-886d28f58b59" providerId="ADAL" clId="{72AEFD76-FAC0-4E55-A7CA-C12DB0E39421}" dt="2026-10-15T14:21:36.731" v="0"/>
      <pc:docMkLst>
        <pc:docMk/>
      </pc:docMkLst>
      <pc:sldChg chg="modSp">
        <pc:chgData name="Vasco Alexandre Amado Rodrigues" userId="51c1c676-cb32-40f7-943f-886d28f58b59" providerId="ADAL" clId="{72AEFD76-FAC0-4E55-A7CA-C12DB0E39421}" dt="2026-10-15T14:21:36.731" v="0"/>
        <pc:sldMkLst>
          <pc:docMk/>
          <pc:sldMk cId="0" sldId="259"/>
        </pc:sldMkLst>
        <pc:spChg chg="mod">
          <ac:chgData name="Vasco Alexandre Amado Rodrigues" userId="51c1c676-cb32-40f7-943f-886d28f58b59" providerId="ADAL" clId="{72AEFD76-FAC0-4E55-A7CA-C12DB0E39421}" dt="2026-10-15T14:21:36.731" v="0"/>
          <ac:spMkLst>
            <pc:docMk/>
            <pc:sldMk cId="0" sldId="259"/>
            <ac:spMk id="5" creationId="{00000000-0000-0000-0000-000000000000}"/>
          </ac:spMkLst>
        </pc:spChg>
      </pc:sldChg>
      <pc:sldChg chg="modSp">
        <pc:chgData name="Vasco Alexandre Amado Rodrigues" userId="51c1c676-cb32-40f7-943f-886d28f58b59" providerId="ADAL" clId="{72AEFD76-FAC0-4E55-A7CA-C12DB0E39421}" dt="2026-10-15T14:21:36.731" v="0"/>
        <pc:sldMkLst>
          <pc:docMk/>
          <pc:sldMk cId="0" sldId="260"/>
        </pc:sldMkLst>
        <pc:spChg chg="mod">
          <ac:chgData name="Vasco Alexandre Amado Rodrigues" userId="51c1c676-cb32-40f7-943f-886d28f58b59" providerId="ADAL" clId="{72AEFD76-FAC0-4E55-A7CA-C12DB0E39421}" dt="2026-10-15T14:21:36.731" v="0"/>
          <ac:spMkLst>
            <pc:docMk/>
            <pc:sldMk cId="0" sldId="260"/>
            <ac:spMk id="5" creationId="{00000000-0000-0000-0000-000000000000}"/>
          </ac:spMkLst>
        </pc:spChg>
        <pc:spChg chg="mod">
          <ac:chgData name="Vasco Alexandre Amado Rodrigues" userId="51c1c676-cb32-40f7-943f-886d28f58b59" providerId="ADAL" clId="{72AEFD76-FAC0-4E55-A7CA-C12DB0E39421}" dt="2026-10-15T14:21:36.731" v="0"/>
          <ac:spMkLst>
            <pc:docMk/>
            <pc:sldMk cId="0" sldId="260"/>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0:00–0:25 | Both members visible on camera.</a:t>
            </a:r>
          </a:p>
          <a:p>
            <a:r>
              <a:t>Member 1: Hi, we’re [names]. We took a familiar water-bucket puzzle and asked a computer to solve it by describing the rules, not by hard-coding one answer.</a:t>
            </a:r>
          </a:p>
          <a:p>
            <a:r>
              <a:t>Member 2: Our project is based on CSPLib problem 018, and we extended it beyond the classic three-bucket example.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0:25–0:55 | Member 1: A bucket configuration is a state. In the classic example, capacities are 8, 5 and 3 litres; we begin with all 8 litres in the first bucket and want 4 litres in each of the first two.</a:t>
            </a:r>
          </a:p>
          <a:p>
            <a:r>
              <a:t>Member 2: A pour is a complete action: it stops only when the source is empty or the destination is full. A goal value of minus one means that bucket’s final amount does not matter.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0:55–1:30 | Member 1: The Python entry point reads and validates an instance, passes its data to the MiniZinc model, and formats the solver’s result.</a:t>
            </a:r>
          </a:p>
          <a:p>
            <a:r>
              <a:t>Member 2: The model represents amounts over time, enforces bucket capacities and the complete-pour rule, and requires the goal state. The sequential solver minimizes the number of pours. For the classic instance, the solution takes seven pours; this is the start, first move, and final state.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1:30–2:05 | Member 1: Our first extension generalizes the inputs: users can specify two or more buckets, arbitrary capacities and starting amounts, and partial goals.</a:t>
            </a:r>
          </a:p>
          <a:p>
            <a:r>
              <a:t>Member 2: We also built a scheduling model with complete, all-or-nothing operations: FILL always fills a bucket to capacity, EMPTY discards all the water in a bucket, and POUR transfers as much as possible until the source is empty or the destination is full. You cannot specify a partial quantity for FILL or EMPTY. Independent operations may happen in the same time unit if they do not share buckets. The model minimizes makespan rather than the number of sequential pours.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2:05–2:35 | Member 1: One challenge was encoding pours faithfully: they transfer the maximum possible amount, rather than moving water in arbitrary increments.</a:t>
            </a:r>
          </a:p>
          <a:p>
            <a:r>
              <a:rPr dirty="0"/>
              <a:t>Member 2: We also had to think about invalid inputs and search overhead. The model treats goals marked any as unconstrained and fixes unused steps once the goal is reached. We learned that correctness and search efficiency both depend on the details of the model.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2:35–3:00 | Member 1: The result is a flexible pipeline from instance data to a readable solution, with two models for different action assumptions.</a:t>
            </a:r>
          </a:p>
          <a:p>
            <a:r>
              <a:t>Member 2: We used Python, MiniZinc and Gecode. Generative AI assisted with implementation drafts, validation logic and visualization; we reviewed, adapted and tested the outputs. Before recording, name the specific AI tool or tools actually used, and make sure this statement matches your final report.</a:t>
            </a:r>
          </a:p>
          <a:p>
            <a:r>
              <a:t>Member 1: Now we’ll demonstrate the classic puzzle and our scheduling extension. Keep both members on camera during the demo as well.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28016"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548640"/>
            <a:ext cx="6309360" cy="274320"/>
          </a:xfrm>
          <a:prstGeom prst="rect">
            <a:avLst/>
          </a:prstGeom>
          <a:noFill/>
        </p:spPr>
        <p:txBody>
          <a:bodyPr wrap="square" lIns="18288" tIns="18288" rIns="18288" bIns="18288" anchor="ctr">
            <a:spAutoFit/>
          </a:bodyPr>
          <a:lstStyle/>
          <a:p>
            <a:pPr algn="l">
              <a:spcAft>
                <a:spcPts val="0"/>
              </a:spcAft>
              <a:defRPr sz="1100" b="1">
                <a:solidFill>
                  <a:srgbClr val="55D6E8"/>
                </a:solidFill>
                <a:latin typeface="Aptos"/>
              </a:defRPr>
            </a:pPr>
            <a:r>
              <a:t>SYMBOLIC AI  /  CONSTRAINTS</a:t>
            </a:r>
          </a:p>
        </p:txBody>
      </p:sp>
      <p:sp>
        <p:nvSpPr>
          <p:cNvPr id="4" name="TextBox 3"/>
          <p:cNvSpPr txBox="1"/>
          <p:nvPr/>
        </p:nvSpPr>
        <p:spPr>
          <a:xfrm>
            <a:off x="749808" y="1298448"/>
            <a:ext cx="6766560" cy="1417320"/>
          </a:xfrm>
          <a:prstGeom prst="rect">
            <a:avLst/>
          </a:prstGeom>
          <a:noFill/>
        </p:spPr>
        <p:txBody>
          <a:bodyPr wrap="square" lIns="18288" tIns="18288" rIns="18288" bIns="18288" anchor="ctr">
            <a:spAutoFit/>
          </a:bodyPr>
          <a:lstStyle/>
          <a:p>
            <a:pPr algn="l">
              <a:spcAft>
                <a:spcPts val="0"/>
              </a:spcAft>
              <a:defRPr sz="3700" b="1">
                <a:solidFill>
                  <a:srgbClr val="F4F8FB"/>
                </a:solidFill>
                <a:latin typeface="Aptos"/>
              </a:defRPr>
            </a:pPr>
            <a:r>
              <a:t>The Water</a:t>
            </a:r>
          </a:p>
          <a:p>
            <a:pPr algn="l">
              <a:spcAft>
                <a:spcPts val="0"/>
              </a:spcAft>
              <a:defRPr sz="3700" b="1">
                <a:solidFill>
                  <a:srgbClr val="F4F8FB"/>
                </a:solidFill>
                <a:latin typeface="Aptos"/>
              </a:defRPr>
            </a:pPr>
            <a:r>
              <a:t>Bucket Problem</a:t>
            </a:r>
          </a:p>
        </p:txBody>
      </p:sp>
      <p:sp>
        <p:nvSpPr>
          <p:cNvPr id="5" name="TextBox 4"/>
          <p:cNvSpPr txBox="1"/>
          <p:nvPr/>
        </p:nvSpPr>
        <p:spPr>
          <a:xfrm>
            <a:off x="786384" y="3035808"/>
            <a:ext cx="6035040" cy="749808"/>
          </a:xfrm>
          <a:prstGeom prst="rect">
            <a:avLst/>
          </a:prstGeom>
          <a:noFill/>
        </p:spPr>
        <p:txBody>
          <a:bodyPr wrap="square" lIns="18288" tIns="18288" rIns="18288" bIns="18288" anchor="ctr">
            <a:spAutoFit/>
          </a:bodyPr>
          <a:lstStyle/>
          <a:p>
            <a:pPr algn="l">
              <a:spcAft>
                <a:spcPts val="0"/>
              </a:spcAft>
              <a:defRPr sz="2000" b="0">
                <a:solidFill>
                  <a:srgbClr val="A9BECE"/>
                </a:solidFill>
                <a:latin typeface="Aptos"/>
              </a:defRPr>
            </a:pPr>
            <a:r>
              <a:t>From a classic puzzle to a general</a:t>
            </a:r>
          </a:p>
          <a:p>
            <a:pPr algn="l">
              <a:spcAft>
                <a:spcPts val="0"/>
              </a:spcAft>
              <a:defRPr sz="2000" b="0">
                <a:solidFill>
                  <a:srgbClr val="A9BECE"/>
                </a:solidFill>
                <a:latin typeface="Aptos"/>
              </a:defRPr>
            </a:pPr>
            <a:r>
              <a:t>constraint-based solver</a:t>
            </a:r>
          </a:p>
        </p:txBody>
      </p:sp>
      <p:sp>
        <p:nvSpPr>
          <p:cNvPr id="6" name="Rounded Rectangle 5"/>
          <p:cNvSpPr/>
          <p:nvPr/>
        </p:nvSpPr>
        <p:spPr>
          <a:xfrm>
            <a:off x="768096" y="4709160"/>
            <a:ext cx="3182112" cy="4754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4727448"/>
            <a:ext cx="2834640" cy="411480"/>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CSPLib 018  •  PYTHON + MINIZINC</a:t>
            </a:r>
          </a:p>
        </p:txBody>
      </p:sp>
      <p:sp>
        <p:nvSpPr>
          <p:cNvPr id="8" name="TextBox 7"/>
          <p:cNvSpPr txBox="1"/>
          <p:nvPr/>
        </p:nvSpPr>
        <p:spPr>
          <a:xfrm>
            <a:off x="786384" y="5735115"/>
            <a:ext cx="6217920" cy="252377"/>
          </a:xfrm>
          <a:prstGeom prst="rect">
            <a:avLst/>
          </a:prstGeom>
          <a:noFill/>
        </p:spPr>
        <p:txBody>
          <a:bodyPr wrap="square" lIns="18288" tIns="18288" rIns="18288" bIns="18288" anchor="ctr">
            <a:spAutoFit/>
          </a:bodyPr>
          <a:lstStyle/>
          <a:p>
            <a:pPr algn="l">
              <a:spcAft>
                <a:spcPts val="0"/>
              </a:spcAft>
              <a:defRPr sz="1400" b="1">
                <a:solidFill>
                  <a:srgbClr val="F4F8FB"/>
                </a:solidFill>
                <a:latin typeface="Aptos"/>
              </a:defRPr>
            </a:pPr>
            <a:r>
              <a:rPr lang="en-GB" dirty="0"/>
              <a:t>Guilherme Corvelo 105947</a:t>
            </a:r>
            <a:r>
              <a:rPr dirty="0"/>
              <a:t>   ·   </a:t>
            </a:r>
            <a:r>
              <a:rPr lang="pt-PT" dirty="0"/>
              <a:t>Vasco Rodrigues 106180</a:t>
            </a:r>
            <a:endParaRPr dirty="0"/>
          </a:p>
        </p:txBody>
      </p:sp>
      <p:sp>
        <p:nvSpPr>
          <p:cNvPr id="9" name="TextBox 8"/>
          <p:cNvSpPr txBox="1"/>
          <p:nvPr/>
        </p:nvSpPr>
        <p:spPr>
          <a:xfrm>
            <a:off x="7479792" y="1435608"/>
            <a:ext cx="1042416" cy="30175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8 L CAPACITY</a:t>
            </a:r>
          </a:p>
        </p:txBody>
      </p:sp>
      <p:sp>
        <p:nvSpPr>
          <p:cNvPr id="10" name="Rounded Rectangle 9"/>
          <p:cNvSpPr/>
          <p:nvPr/>
        </p:nvSpPr>
        <p:spPr>
          <a:xfrm>
            <a:off x="7498079" y="1874519"/>
            <a:ext cx="1005840" cy="2423160"/>
          </a:xfrm>
          <a:prstGeom prst="roundRect">
            <a:avLst>
              <a:gd name="adj" fmla="val 12000"/>
            </a:avLst>
          </a:prstGeom>
          <a:solidFill>
            <a:srgbClr val="142D42"/>
          </a:solidFill>
          <a:ln w="1651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571231" y="1911095"/>
            <a:ext cx="859536" cy="2350008"/>
          </a:xfrm>
          <a:prstGeom prst="roundRect">
            <a:avLst>
              <a:gd name="adj" fmla="val 12000"/>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59" y="4425696"/>
            <a:ext cx="1097280" cy="310896"/>
          </a:xfrm>
          <a:prstGeom prst="rect">
            <a:avLst/>
          </a:prstGeom>
          <a:noFill/>
        </p:spPr>
        <p:txBody>
          <a:bodyPr wrap="square" lIns="18288" tIns="18288" rIns="18288" bIns="18288" anchor="ctr">
            <a:spAutoFit/>
          </a:bodyPr>
          <a:lstStyle/>
          <a:p>
            <a:pPr algn="ctr">
              <a:spcAft>
                <a:spcPts val="0"/>
              </a:spcAft>
              <a:defRPr sz="1400" b="1">
                <a:solidFill>
                  <a:srgbClr val="55D6E8"/>
                </a:solidFill>
                <a:latin typeface="Aptos"/>
              </a:defRPr>
            </a:pPr>
            <a:r>
              <a:t>8 L</a:t>
            </a:r>
          </a:p>
        </p:txBody>
      </p:sp>
      <p:sp>
        <p:nvSpPr>
          <p:cNvPr id="13" name="TextBox 12"/>
          <p:cNvSpPr txBox="1"/>
          <p:nvPr/>
        </p:nvSpPr>
        <p:spPr>
          <a:xfrm>
            <a:off x="7406640" y="4956048"/>
            <a:ext cx="1188720" cy="25603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START</a:t>
            </a:r>
          </a:p>
        </p:txBody>
      </p:sp>
      <p:sp>
        <p:nvSpPr>
          <p:cNvPr id="14" name="TextBox 13"/>
          <p:cNvSpPr txBox="1"/>
          <p:nvPr/>
        </p:nvSpPr>
        <p:spPr>
          <a:xfrm>
            <a:off x="8915400" y="1435608"/>
            <a:ext cx="1042416" cy="30175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5 L CAPACITY</a:t>
            </a:r>
          </a:p>
        </p:txBody>
      </p:sp>
      <p:sp>
        <p:nvSpPr>
          <p:cNvPr id="15" name="Rounded Rectangle 14"/>
          <p:cNvSpPr/>
          <p:nvPr/>
        </p:nvSpPr>
        <p:spPr>
          <a:xfrm>
            <a:off x="8933688" y="1874519"/>
            <a:ext cx="1005840" cy="2423160"/>
          </a:xfrm>
          <a:prstGeom prst="roundRect">
            <a:avLst>
              <a:gd name="adj" fmla="val 12000"/>
            </a:avLst>
          </a:prstGeom>
          <a:solidFill>
            <a:srgbClr val="142D42"/>
          </a:solidFill>
          <a:ln w="1651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87967" y="4425696"/>
            <a:ext cx="1097280" cy="310896"/>
          </a:xfrm>
          <a:prstGeom prst="rect">
            <a:avLst/>
          </a:prstGeom>
          <a:noFill/>
        </p:spPr>
        <p:txBody>
          <a:bodyPr wrap="square" lIns="18288" tIns="18288" rIns="18288" bIns="18288" anchor="ctr">
            <a:spAutoFit/>
          </a:bodyPr>
          <a:lstStyle/>
          <a:p>
            <a:pPr algn="ctr">
              <a:spcAft>
                <a:spcPts val="0"/>
              </a:spcAft>
              <a:defRPr sz="1400" b="1">
                <a:solidFill>
                  <a:srgbClr val="B9F269"/>
                </a:solidFill>
                <a:latin typeface="Aptos"/>
              </a:defRPr>
            </a:pPr>
            <a:r>
              <a:t>0 L</a:t>
            </a:r>
          </a:p>
        </p:txBody>
      </p:sp>
      <p:sp>
        <p:nvSpPr>
          <p:cNvPr id="17" name="TextBox 16"/>
          <p:cNvSpPr txBox="1"/>
          <p:nvPr/>
        </p:nvSpPr>
        <p:spPr>
          <a:xfrm>
            <a:off x="8842248" y="4956048"/>
            <a:ext cx="1188720" cy="25603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EMPTY</a:t>
            </a:r>
          </a:p>
        </p:txBody>
      </p:sp>
      <p:sp>
        <p:nvSpPr>
          <p:cNvPr id="18" name="TextBox 17"/>
          <p:cNvSpPr txBox="1"/>
          <p:nvPr/>
        </p:nvSpPr>
        <p:spPr>
          <a:xfrm>
            <a:off x="10351008" y="1435608"/>
            <a:ext cx="1042416" cy="30175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3 L CAPACITY</a:t>
            </a:r>
          </a:p>
        </p:txBody>
      </p:sp>
      <p:sp>
        <p:nvSpPr>
          <p:cNvPr id="19" name="Rounded Rectangle 18"/>
          <p:cNvSpPr/>
          <p:nvPr/>
        </p:nvSpPr>
        <p:spPr>
          <a:xfrm>
            <a:off x="10369296" y="1874519"/>
            <a:ext cx="1005840" cy="2423160"/>
          </a:xfrm>
          <a:prstGeom prst="roundRect">
            <a:avLst>
              <a:gd name="adj" fmla="val 12000"/>
            </a:avLst>
          </a:prstGeom>
          <a:solidFill>
            <a:srgbClr val="142D42"/>
          </a:solidFill>
          <a:ln w="1651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23576" y="4425696"/>
            <a:ext cx="1097280" cy="310896"/>
          </a:xfrm>
          <a:prstGeom prst="rect">
            <a:avLst/>
          </a:prstGeom>
          <a:noFill/>
        </p:spPr>
        <p:txBody>
          <a:bodyPr wrap="square" lIns="18288" tIns="18288" rIns="18288" bIns="18288" anchor="ctr">
            <a:spAutoFit/>
          </a:bodyPr>
          <a:lstStyle/>
          <a:p>
            <a:pPr algn="ctr">
              <a:spcAft>
                <a:spcPts val="0"/>
              </a:spcAft>
              <a:defRPr sz="1400" b="1">
                <a:solidFill>
                  <a:srgbClr val="FFB45F"/>
                </a:solidFill>
                <a:latin typeface="Aptos"/>
              </a:defRPr>
            </a:pPr>
            <a:r>
              <a:t>0 L</a:t>
            </a:r>
          </a:p>
        </p:txBody>
      </p:sp>
      <p:sp>
        <p:nvSpPr>
          <p:cNvPr id="21" name="TextBox 20"/>
          <p:cNvSpPr txBox="1"/>
          <p:nvPr/>
        </p:nvSpPr>
        <p:spPr>
          <a:xfrm>
            <a:off x="10277856" y="4956048"/>
            <a:ext cx="1188720" cy="256032"/>
          </a:xfrm>
          <a:prstGeom prst="rect">
            <a:avLst/>
          </a:prstGeom>
          <a:noFill/>
        </p:spPr>
        <p:txBody>
          <a:bodyPr wrap="square" lIns="18288" tIns="18288" rIns="18288" bIns="18288" anchor="ctr">
            <a:spAutoFit/>
          </a:bodyPr>
          <a:lstStyle/>
          <a:p>
            <a:pPr algn="ctr">
              <a:spcAft>
                <a:spcPts val="0"/>
              </a:spcAft>
              <a:defRPr sz="900" b="1">
                <a:solidFill>
                  <a:srgbClr val="A9BECE"/>
                </a:solidFill>
                <a:latin typeface="Aptos"/>
              </a:defRPr>
            </a:pPr>
            <a:r>
              <a:t>EMPTY</a:t>
            </a:r>
          </a:p>
        </p:txBody>
      </p:sp>
      <p:cxnSp>
        <p:nvCxnSpPr>
          <p:cNvPr id="22" name="Connector 21"/>
          <p:cNvCxnSpPr/>
          <p:nvPr/>
        </p:nvCxnSpPr>
        <p:spPr>
          <a:xfrm>
            <a:off x="7644383" y="5596128"/>
            <a:ext cx="3602737" cy="0"/>
          </a:xfrm>
          <a:prstGeom prst="line">
            <a:avLst/>
          </a:prstGeom>
          <a:ln w="15240">
            <a:solidFill>
              <a:srgbClr val="29445A"/>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603236" y="5554980"/>
            <a:ext cx="82296" cy="8229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86316" y="5554980"/>
            <a:ext cx="82296" cy="8229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169396" y="5554980"/>
            <a:ext cx="82296" cy="8229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01  /  THE PROBLEM</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Every state is a small snapshot.</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A state records the water in each bucket; actions move us toward the target.</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9" name="Rounded Rectangle 8"/>
          <p:cNvSpPr/>
          <p:nvPr/>
        </p:nvSpPr>
        <p:spPr>
          <a:xfrm>
            <a:off x="713232" y="1874519"/>
            <a:ext cx="5074920" cy="30449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993392"/>
            <a:ext cx="2011680" cy="256032"/>
          </a:xfrm>
          <a:prstGeom prst="rect">
            <a:avLst/>
          </a:prstGeom>
          <a:noFill/>
        </p:spPr>
        <p:txBody>
          <a:bodyPr wrap="square" lIns="18288" tIns="18288" rIns="18288" bIns="18288" anchor="ctr">
            <a:spAutoFit/>
          </a:bodyPr>
          <a:lstStyle/>
          <a:p>
            <a:pPr algn="l">
              <a:spcAft>
                <a:spcPts val="0"/>
              </a:spcAft>
              <a:defRPr sz="1100" b="1">
                <a:solidFill>
                  <a:srgbClr val="55D6E8"/>
                </a:solidFill>
                <a:latin typeface="Aptos"/>
              </a:defRPr>
            </a:pPr>
            <a:r>
              <a:t>START</a:t>
            </a:r>
          </a:p>
        </p:txBody>
      </p:sp>
      <p:sp>
        <p:nvSpPr>
          <p:cNvPr id="11" name="TextBox 10"/>
          <p:cNvSpPr txBox="1"/>
          <p:nvPr/>
        </p:nvSpPr>
        <p:spPr>
          <a:xfrm>
            <a:off x="1170431"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8 L</a:t>
            </a:r>
          </a:p>
        </p:txBody>
      </p:sp>
      <p:sp>
        <p:nvSpPr>
          <p:cNvPr id="12" name="Rounded Rectangle 11"/>
          <p:cNvSpPr/>
          <p:nvPr/>
        </p:nvSpPr>
        <p:spPr>
          <a:xfrm>
            <a:off x="12435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307592" y="2660903"/>
            <a:ext cx="566928" cy="1554480"/>
          </a:xfrm>
          <a:prstGeom prst="roundRect">
            <a:avLst>
              <a:gd name="adj" fmla="val 12000"/>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8 L</a:t>
            </a:r>
          </a:p>
        </p:txBody>
      </p:sp>
      <p:sp>
        <p:nvSpPr>
          <p:cNvPr id="15" name="TextBox 14"/>
          <p:cNvSpPr txBox="1"/>
          <p:nvPr/>
        </p:nvSpPr>
        <p:spPr>
          <a:xfrm>
            <a:off x="2542032"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5 L</a:t>
            </a:r>
          </a:p>
        </p:txBody>
      </p:sp>
      <p:sp>
        <p:nvSpPr>
          <p:cNvPr id="16" name="Rounded Rectangle 15"/>
          <p:cNvSpPr/>
          <p:nvPr/>
        </p:nvSpPr>
        <p:spPr>
          <a:xfrm>
            <a:off x="26151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50591"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0 L</a:t>
            </a:r>
          </a:p>
        </p:txBody>
      </p:sp>
      <p:sp>
        <p:nvSpPr>
          <p:cNvPr id="18" name="TextBox 17"/>
          <p:cNvSpPr txBox="1"/>
          <p:nvPr/>
        </p:nvSpPr>
        <p:spPr>
          <a:xfrm>
            <a:off x="3913631"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3 L</a:t>
            </a:r>
          </a:p>
        </p:txBody>
      </p:sp>
      <p:sp>
        <p:nvSpPr>
          <p:cNvPr id="19" name="Rounded Rectangle 18"/>
          <p:cNvSpPr/>
          <p:nvPr/>
        </p:nvSpPr>
        <p:spPr>
          <a:xfrm>
            <a:off x="3986783"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22191"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0 L</a:t>
            </a:r>
          </a:p>
        </p:txBody>
      </p:sp>
      <p:sp>
        <p:nvSpPr>
          <p:cNvPr id="21" name="Oval 20"/>
          <p:cNvSpPr/>
          <p:nvPr/>
        </p:nvSpPr>
        <p:spPr>
          <a:xfrm>
            <a:off x="4946904" y="3090672"/>
            <a:ext cx="438912" cy="438912"/>
          </a:xfrm>
          <a:prstGeom prst="ellipse">
            <a:avLst/>
          </a:prstGeom>
          <a:solidFill>
            <a:srgbClr val="142D42"/>
          </a:solidFill>
          <a:ln>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56048" y="3090672"/>
            <a:ext cx="420624" cy="420624"/>
          </a:xfrm>
          <a:prstGeom prst="rect">
            <a:avLst/>
          </a:prstGeom>
          <a:noFill/>
        </p:spPr>
        <p:txBody>
          <a:bodyPr wrap="square" lIns="18288" tIns="18288" rIns="18288" bIns="18288" anchor="ctr">
            <a:spAutoFit/>
          </a:bodyPr>
          <a:lstStyle/>
          <a:p>
            <a:pPr algn="ctr">
              <a:spcAft>
                <a:spcPts val="0"/>
              </a:spcAft>
              <a:defRPr sz="1800" b="1">
                <a:solidFill>
                  <a:srgbClr val="55D6E8"/>
                </a:solidFill>
                <a:latin typeface="Aptos"/>
              </a:defRPr>
            </a:pPr>
            <a:r>
              <a:t>→</a:t>
            </a:r>
          </a:p>
        </p:txBody>
      </p:sp>
      <p:sp>
        <p:nvSpPr>
          <p:cNvPr id="23" name="Rounded Rectangle 22"/>
          <p:cNvSpPr/>
          <p:nvPr/>
        </p:nvSpPr>
        <p:spPr>
          <a:xfrm>
            <a:off x="6199632" y="1874519"/>
            <a:ext cx="5074920" cy="30449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37376" y="1993392"/>
            <a:ext cx="2011680" cy="256032"/>
          </a:xfrm>
          <a:prstGeom prst="rect">
            <a:avLst/>
          </a:prstGeom>
          <a:noFill/>
        </p:spPr>
        <p:txBody>
          <a:bodyPr wrap="square" lIns="18288" tIns="18288" rIns="18288" bIns="18288" anchor="ctr">
            <a:spAutoFit/>
          </a:bodyPr>
          <a:lstStyle/>
          <a:p>
            <a:pPr algn="l">
              <a:spcAft>
                <a:spcPts val="0"/>
              </a:spcAft>
              <a:defRPr sz="1100" b="1">
                <a:solidFill>
                  <a:srgbClr val="B9F269"/>
                </a:solidFill>
                <a:latin typeface="Aptos"/>
              </a:defRPr>
            </a:pPr>
            <a:r>
              <a:t>GOAL</a:t>
            </a:r>
          </a:p>
        </p:txBody>
      </p:sp>
      <p:sp>
        <p:nvSpPr>
          <p:cNvPr id="25" name="TextBox 24"/>
          <p:cNvSpPr txBox="1"/>
          <p:nvPr/>
        </p:nvSpPr>
        <p:spPr>
          <a:xfrm>
            <a:off x="6656832"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8 L</a:t>
            </a:r>
          </a:p>
        </p:txBody>
      </p:sp>
      <p:sp>
        <p:nvSpPr>
          <p:cNvPr id="26" name="Rounded Rectangle 25"/>
          <p:cNvSpPr/>
          <p:nvPr/>
        </p:nvSpPr>
        <p:spPr>
          <a:xfrm>
            <a:off x="67299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793992" y="3493008"/>
            <a:ext cx="566928" cy="722376"/>
          </a:xfrm>
          <a:prstGeom prst="roundRect">
            <a:avLst>
              <a:gd name="adj" fmla="val 12000"/>
            </a:avLst>
          </a:prstGeom>
          <a:solidFill>
            <a:srgbClr val="B9F269"/>
          </a:solidFill>
          <a:ln w="12700">
            <a:solidFill>
              <a:srgbClr val="B9F2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653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4 L</a:t>
            </a:r>
          </a:p>
        </p:txBody>
      </p:sp>
      <p:sp>
        <p:nvSpPr>
          <p:cNvPr id="29" name="TextBox 28"/>
          <p:cNvSpPr txBox="1"/>
          <p:nvPr/>
        </p:nvSpPr>
        <p:spPr>
          <a:xfrm>
            <a:off x="8028431"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5 L</a:t>
            </a:r>
          </a:p>
        </p:txBody>
      </p:sp>
      <p:sp>
        <p:nvSpPr>
          <p:cNvPr id="30" name="Rounded Rectangle 29"/>
          <p:cNvSpPr/>
          <p:nvPr/>
        </p:nvSpPr>
        <p:spPr>
          <a:xfrm>
            <a:off x="8101583"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65592" y="2993745"/>
            <a:ext cx="566928" cy="1221638"/>
          </a:xfrm>
          <a:prstGeom prst="roundRect">
            <a:avLst>
              <a:gd name="adj" fmla="val 12000"/>
            </a:avLst>
          </a:prstGeom>
          <a:solidFill>
            <a:srgbClr val="B9F269"/>
          </a:solidFill>
          <a:ln w="12700">
            <a:solidFill>
              <a:srgbClr val="B9F2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9369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F4F8FB"/>
                </a:solidFill>
                <a:latin typeface="Aptos"/>
              </a:defRPr>
            </a:pPr>
            <a:r>
              <a:t>4 L</a:t>
            </a:r>
          </a:p>
        </p:txBody>
      </p:sp>
      <p:sp>
        <p:nvSpPr>
          <p:cNvPr id="33" name="TextBox 32"/>
          <p:cNvSpPr txBox="1"/>
          <p:nvPr/>
        </p:nvSpPr>
        <p:spPr>
          <a:xfrm>
            <a:off x="9400032" y="2313432"/>
            <a:ext cx="841248" cy="219456"/>
          </a:xfrm>
          <a:prstGeom prst="rect">
            <a:avLst/>
          </a:prstGeom>
          <a:noFill/>
        </p:spPr>
        <p:txBody>
          <a:bodyPr wrap="square" lIns="18288" tIns="18288" rIns="18288" bIns="18288" anchor="ctr">
            <a:spAutoFit/>
          </a:bodyPr>
          <a:lstStyle/>
          <a:p>
            <a:pPr algn="ctr">
              <a:spcAft>
                <a:spcPts val="0"/>
              </a:spcAft>
              <a:defRPr sz="1000" b="1">
                <a:solidFill>
                  <a:srgbClr val="A9BECE"/>
                </a:solidFill>
                <a:latin typeface="Aptos"/>
              </a:defRPr>
            </a:pPr>
            <a:r>
              <a:t>3 L</a:t>
            </a:r>
          </a:p>
        </p:txBody>
      </p:sp>
      <p:sp>
        <p:nvSpPr>
          <p:cNvPr id="34" name="Rounded Rectangle 33"/>
          <p:cNvSpPr/>
          <p:nvPr/>
        </p:nvSpPr>
        <p:spPr>
          <a:xfrm>
            <a:off x="9473184" y="2606040"/>
            <a:ext cx="694944" cy="1664208"/>
          </a:xfrm>
          <a:prstGeom prst="roundRect">
            <a:avLst>
              <a:gd name="adj" fmla="val 12000"/>
            </a:avLst>
          </a:prstGeom>
          <a:solidFill>
            <a:srgbClr val="142D42"/>
          </a:solidFill>
          <a:ln w="1524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08592" y="4352544"/>
            <a:ext cx="1024128" cy="301752"/>
          </a:xfrm>
          <a:prstGeom prst="rect">
            <a:avLst/>
          </a:prstGeom>
          <a:noFill/>
        </p:spPr>
        <p:txBody>
          <a:bodyPr wrap="square" lIns="18288" tIns="18288" rIns="18288" bIns="18288" anchor="ctr">
            <a:spAutoFit/>
          </a:bodyPr>
          <a:lstStyle/>
          <a:p>
            <a:pPr algn="ctr">
              <a:spcAft>
                <a:spcPts val="0"/>
              </a:spcAft>
              <a:defRPr sz="1200" b="1">
                <a:solidFill>
                  <a:srgbClr val="A9BECE"/>
                </a:solidFill>
                <a:latin typeface="Aptos"/>
              </a:defRPr>
            </a:pPr>
            <a:r>
              <a:t>ANY</a:t>
            </a:r>
          </a:p>
        </p:txBody>
      </p:sp>
      <p:sp>
        <p:nvSpPr>
          <p:cNvPr id="36" name="Rounded Rectangle 35"/>
          <p:cNvSpPr/>
          <p:nvPr/>
        </p:nvSpPr>
        <p:spPr>
          <a:xfrm>
            <a:off x="713232" y="5193792"/>
            <a:ext cx="10561320" cy="74980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32688" y="5294376"/>
            <a:ext cx="1170432" cy="384048"/>
          </a:xfrm>
          <a:prstGeom prst="rect">
            <a:avLst/>
          </a:prstGeom>
          <a:noFill/>
        </p:spPr>
        <p:txBody>
          <a:bodyPr wrap="square" lIns="18288" tIns="18288" rIns="18288" bIns="18288" anchor="ctr">
            <a:spAutoFit/>
          </a:bodyPr>
          <a:lstStyle/>
          <a:p>
            <a:pPr algn="l">
              <a:spcAft>
                <a:spcPts val="0"/>
              </a:spcAft>
              <a:defRPr sz="1000" b="1">
                <a:solidFill>
                  <a:srgbClr val="FFB45F"/>
                </a:solidFill>
                <a:latin typeface="Aptos"/>
              </a:defRPr>
            </a:pPr>
            <a:r>
              <a:t>POUR RULE</a:t>
            </a:r>
          </a:p>
        </p:txBody>
      </p:sp>
      <p:sp>
        <p:nvSpPr>
          <p:cNvPr id="38" name="TextBox 37"/>
          <p:cNvSpPr txBox="1"/>
          <p:nvPr/>
        </p:nvSpPr>
        <p:spPr>
          <a:xfrm>
            <a:off x="2139696" y="5285232"/>
            <a:ext cx="8741664" cy="429768"/>
          </a:xfrm>
          <a:prstGeom prst="rect">
            <a:avLst/>
          </a:prstGeom>
          <a:noFill/>
        </p:spPr>
        <p:txBody>
          <a:bodyPr wrap="square" lIns="18288" tIns="18288" rIns="18288" bIns="18288" anchor="ctr">
            <a:spAutoFit/>
          </a:bodyPr>
          <a:lstStyle/>
          <a:p>
            <a:pPr algn="l">
              <a:spcAft>
                <a:spcPts val="0"/>
              </a:spcAft>
              <a:defRPr sz="1400" b="1">
                <a:solidFill>
                  <a:srgbClr val="F4F8FB"/>
                </a:solidFill>
                <a:latin typeface="Aptos"/>
              </a:defRPr>
            </a:pPr>
            <a:r>
              <a:t>Transfer as much as possible: stop when source is empty or destination is full.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02  /  THE MODEL</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Make the rules explicit.</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Python prepares an instance; MiniZinc states the constraints; Gecode searches.</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9" name="Rounded Rectangle 8"/>
          <p:cNvSpPr/>
          <p:nvPr/>
        </p:nvSpPr>
        <p:spPr>
          <a:xfrm>
            <a:off x="713232"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41248" y="2093976"/>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42416"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INSTANCE</a:t>
            </a:r>
          </a:p>
        </p:txBody>
      </p:sp>
      <p:sp>
        <p:nvSpPr>
          <p:cNvPr id="12" name="TextBox 11"/>
          <p:cNvSpPr txBox="1"/>
          <p:nvPr/>
        </p:nvSpPr>
        <p:spPr>
          <a:xfrm>
            <a:off x="877824"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capacities</a:t>
            </a:r>
          </a:p>
          <a:p>
            <a:pPr algn="ctr">
              <a:spcAft>
                <a:spcPts val="0"/>
              </a:spcAft>
              <a:defRPr sz="1400" b="1">
                <a:solidFill>
                  <a:srgbClr val="F4F8FB"/>
                </a:solidFill>
                <a:latin typeface="Aptos"/>
              </a:defRPr>
            </a:pPr>
            <a:r>
              <a:t>initial</a:t>
            </a:r>
          </a:p>
          <a:p>
            <a:pPr algn="ctr">
              <a:spcAft>
                <a:spcPts val="0"/>
              </a:spcAft>
              <a:defRPr sz="1400" b="1">
                <a:solidFill>
                  <a:srgbClr val="F4F8FB"/>
                </a:solidFill>
                <a:latin typeface="Aptos"/>
              </a:defRPr>
            </a:pPr>
            <a:r>
              <a:t>goal</a:t>
            </a:r>
          </a:p>
        </p:txBody>
      </p:sp>
      <p:cxnSp>
        <p:nvCxnSpPr>
          <p:cNvPr id="13" name="Connector 12"/>
          <p:cNvCxnSpPr/>
          <p:nvPr/>
        </p:nvCxnSpPr>
        <p:spPr>
          <a:xfrm>
            <a:off x="2459736"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42032"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15" name="Rounded Rectangle 14"/>
          <p:cNvSpPr/>
          <p:nvPr/>
        </p:nvSpPr>
        <p:spPr>
          <a:xfrm>
            <a:off x="2944368"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072384" y="2093976"/>
            <a:ext cx="128016" cy="128016"/>
          </a:xfrm>
          <a:prstGeom prst="ellipse">
            <a:avLst/>
          </a:prstGeom>
          <a:solidFill>
            <a:srgbClr val="5F9DF7"/>
          </a:solidFill>
          <a:ln>
            <a:solidFill>
              <a:srgbClr val="5F9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73552"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5F9DF7"/>
                </a:solidFill>
                <a:latin typeface="Aptos"/>
              </a:defRPr>
            </a:pPr>
            <a:r>
              <a:t>PYTHON</a:t>
            </a:r>
          </a:p>
        </p:txBody>
      </p:sp>
      <p:sp>
        <p:nvSpPr>
          <p:cNvPr id="18" name="TextBox 17"/>
          <p:cNvSpPr txBox="1"/>
          <p:nvPr/>
        </p:nvSpPr>
        <p:spPr>
          <a:xfrm>
            <a:off x="3108960"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read +</a:t>
            </a:r>
          </a:p>
          <a:p>
            <a:pPr algn="ctr">
              <a:spcAft>
                <a:spcPts val="0"/>
              </a:spcAft>
              <a:defRPr sz="1400" b="1">
                <a:solidFill>
                  <a:srgbClr val="F4F8FB"/>
                </a:solidFill>
                <a:latin typeface="Aptos"/>
              </a:defRPr>
            </a:pPr>
            <a:r>
              <a:t>validate</a:t>
            </a:r>
          </a:p>
        </p:txBody>
      </p:sp>
      <p:cxnSp>
        <p:nvCxnSpPr>
          <p:cNvPr id="19" name="Connector 18"/>
          <p:cNvCxnSpPr/>
          <p:nvPr/>
        </p:nvCxnSpPr>
        <p:spPr>
          <a:xfrm>
            <a:off x="4690872"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773168"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21" name="Rounded Rectangle 20"/>
          <p:cNvSpPr/>
          <p:nvPr/>
        </p:nvSpPr>
        <p:spPr>
          <a:xfrm>
            <a:off x="5175504"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303520" y="2093976"/>
            <a:ext cx="128016" cy="128016"/>
          </a:xfrm>
          <a:prstGeom prst="ellipse">
            <a:avLst/>
          </a:prstGeom>
          <a:solidFill>
            <a:srgbClr val="B9F269"/>
          </a:solidFill>
          <a:ln>
            <a:solidFill>
              <a:srgbClr val="B9F2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04688"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MINIZINC</a:t>
            </a:r>
          </a:p>
        </p:txBody>
      </p:sp>
      <p:sp>
        <p:nvSpPr>
          <p:cNvPr id="24" name="TextBox 23"/>
          <p:cNvSpPr txBox="1"/>
          <p:nvPr/>
        </p:nvSpPr>
        <p:spPr>
          <a:xfrm>
            <a:off x="5340096"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states +</a:t>
            </a:r>
          </a:p>
          <a:p>
            <a:pPr algn="ctr">
              <a:spcAft>
                <a:spcPts val="0"/>
              </a:spcAft>
              <a:defRPr sz="1400" b="1">
                <a:solidFill>
                  <a:srgbClr val="F4F8FB"/>
                </a:solidFill>
                <a:latin typeface="Aptos"/>
              </a:defRPr>
            </a:pPr>
            <a:r>
              <a:t>transitions</a:t>
            </a:r>
          </a:p>
        </p:txBody>
      </p:sp>
      <p:cxnSp>
        <p:nvCxnSpPr>
          <p:cNvPr id="25" name="Connector 24"/>
          <p:cNvCxnSpPr/>
          <p:nvPr/>
        </p:nvCxnSpPr>
        <p:spPr>
          <a:xfrm>
            <a:off x="6922008"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004304"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27" name="Rounded Rectangle 26"/>
          <p:cNvSpPr/>
          <p:nvPr/>
        </p:nvSpPr>
        <p:spPr>
          <a:xfrm>
            <a:off x="7406640"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534656" y="2093976"/>
            <a:ext cx="128016" cy="128016"/>
          </a:xfrm>
          <a:prstGeom prst="ellipse">
            <a:avLst/>
          </a:prstGeom>
          <a:solidFill>
            <a:srgbClr val="FFB45F"/>
          </a:solidFill>
          <a:ln>
            <a:solidFill>
              <a:srgbClr val="FFB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35823"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FFB45F"/>
                </a:solidFill>
                <a:latin typeface="Aptos"/>
              </a:defRPr>
            </a:pPr>
            <a:r>
              <a:t>GECODE</a:t>
            </a:r>
          </a:p>
        </p:txBody>
      </p:sp>
      <p:sp>
        <p:nvSpPr>
          <p:cNvPr id="30" name="TextBox 29"/>
          <p:cNvSpPr txBox="1"/>
          <p:nvPr/>
        </p:nvSpPr>
        <p:spPr>
          <a:xfrm>
            <a:off x="7571231"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search +</a:t>
            </a:r>
          </a:p>
          <a:p>
            <a:pPr algn="ctr">
              <a:spcAft>
                <a:spcPts val="0"/>
              </a:spcAft>
              <a:defRPr sz="1400" b="1">
                <a:solidFill>
                  <a:srgbClr val="F4F8FB"/>
                </a:solidFill>
                <a:latin typeface="Aptos"/>
              </a:defRPr>
            </a:pPr>
            <a:r>
              <a:t>optimize</a:t>
            </a:r>
          </a:p>
        </p:txBody>
      </p:sp>
      <p:cxnSp>
        <p:nvCxnSpPr>
          <p:cNvPr id="31" name="Connector 30"/>
          <p:cNvCxnSpPr/>
          <p:nvPr/>
        </p:nvCxnSpPr>
        <p:spPr>
          <a:xfrm>
            <a:off x="9153144" y="2679192"/>
            <a:ext cx="393192" cy="0"/>
          </a:xfrm>
          <a:prstGeom prst="line">
            <a:avLst/>
          </a:prstGeom>
          <a:ln w="19050">
            <a:solidFill>
              <a:srgbClr val="A9BEC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235440" y="2523744"/>
            <a:ext cx="228600" cy="274320"/>
          </a:xfrm>
          <a:prstGeom prst="rect">
            <a:avLst/>
          </a:prstGeom>
          <a:noFill/>
        </p:spPr>
        <p:txBody>
          <a:bodyPr wrap="square" lIns="18288" tIns="18288" rIns="18288" bIns="18288" anchor="ctr">
            <a:spAutoFit/>
          </a:bodyPr>
          <a:lstStyle/>
          <a:p>
            <a:pPr algn="ctr">
              <a:spcAft>
                <a:spcPts val="0"/>
              </a:spcAft>
              <a:defRPr sz="2000" b="1">
                <a:solidFill>
                  <a:srgbClr val="55D6E8"/>
                </a:solidFill>
                <a:latin typeface="Aptos"/>
              </a:defRPr>
            </a:pPr>
            <a:r>
              <a:t>›</a:t>
            </a:r>
          </a:p>
        </p:txBody>
      </p:sp>
      <p:sp>
        <p:nvSpPr>
          <p:cNvPr id="33" name="Rounded Rectangle 32"/>
          <p:cNvSpPr/>
          <p:nvPr/>
        </p:nvSpPr>
        <p:spPr>
          <a:xfrm>
            <a:off x="9637776" y="1956816"/>
            <a:ext cx="1719072" cy="1444752"/>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765792" y="2093976"/>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966959" y="2048256"/>
            <a:ext cx="1261872" cy="274320"/>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SOLUTION</a:t>
            </a:r>
          </a:p>
        </p:txBody>
      </p:sp>
      <p:sp>
        <p:nvSpPr>
          <p:cNvPr id="36" name="TextBox 35"/>
          <p:cNvSpPr txBox="1"/>
          <p:nvPr/>
        </p:nvSpPr>
        <p:spPr>
          <a:xfrm>
            <a:off x="9802367" y="2487168"/>
            <a:ext cx="1417320" cy="713232"/>
          </a:xfrm>
          <a:prstGeom prst="rect">
            <a:avLst/>
          </a:prstGeom>
          <a:noFill/>
        </p:spPr>
        <p:txBody>
          <a:bodyPr wrap="square" lIns="18288" tIns="18288" rIns="18288" bIns="18288" anchor="ctr">
            <a:spAutoFit/>
          </a:bodyPr>
          <a:lstStyle/>
          <a:p>
            <a:pPr algn="ctr">
              <a:spcAft>
                <a:spcPts val="0"/>
              </a:spcAft>
              <a:defRPr sz="1400" b="1">
                <a:solidFill>
                  <a:srgbClr val="F4F8FB"/>
                </a:solidFill>
                <a:latin typeface="Aptos"/>
              </a:defRPr>
            </a:pPr>
            <a:r>
              <a:t>steps on</a:t>
            </a:r>
          </a:p>
          <a:p>
            <a:pPr algn="ctr">
              <a:spcAft>
                <a:spcPts val="0"/>
              </a:spcAft>
              <a:defRPr sz="1400" b="1">
                <a:solidFill>
                  <a:srgbClr val="F4F8FB"/>
                </a:solidFill>
                <a:latin typeface="Aptos"/>
              </a:defRPr>
            </a:pPr>
            <a:r>
              <a:t>stdout</a:t>
            </a:r>
          </a:p>
        </p:txBody>
      </p:sp>
      <p:sp>
        <p:nvSpPr>
          <p:cNvPr id="37" name="Rounded Rectangle 36"/>
          <p:cNvSpPr/>
          <p:nvPr/>
        </p:nvSpPr>
        <p:spPr>
          <a:xfrm>
            <a:off x="749808" y="3858768"/>
            <a:ext cx="3154680" cy="9326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3941063"/>
            <a:ext cx="960120" cy="237744"/>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STATE</a:t>
            </a:r>
          </a:p>
        </p:txBody>
      </p:sp>
      <p:sp>
        <p:nvSpPr>
          <p:cNvPr id="39" name="TextBox 38"/>
          <p:cNvSpPr txBox="1"/>
          <p:nvPr/>
        </p:nvSpPr>
        <p:spPr>
          <a:xfrm>
            <a:off x="914400" y="4215384"/>
            <a:ext cx="2798064" cy="4114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Amount per bucket at every step</a:t>
            </a:r>
          </a:p>
        </p:txBody>
      </p:sp>
      <p:sp>
        <p:nvSpPr>
          <p:cNvPr id="40" name="Rounded Rectangle 39"/>
          <p:cNvSpPr/>
          <p:nvPr/>
        </p:nvSpPr>
        <p:spPr>
          <a:xfrm>
            <a:off x="4325112" y="3858768"/>
            <a:ext cx="3154680" cy="9326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941063"/>
            <a:ext cx="960120" cy="237744"/>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RULES</a:t>
            </a:r>
          </a:p>
        </p:txBody>
      </p:sp>
      <p:sp>
        <p:nvSpPr>
          <p:cNvPr id="42" name="TextBox 41"/>
          <p:cNvSpPr txBox="1"/>
          <p:nvPr/>
        </p:nvSpPr>
        <p:spPr>
          <a:xfrm>
            <a:off x="4489704" y="4215384"/>
            <a:ext cx="2798064" cy="4114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Capacity + complete-pour transitions</a:t>
            </a:r>
          </a:p>
        </p:txBody>
      </p:sp>
      <p:sp>
        <p:nvSpPr>
          <p:cNvPr id="43" name="Rounded Rectangle 42"/>
          <p:cNvSpPr/>
          <p:nvPr/>
        </p:nvSpPr>
        <p:spPr>
          <a:xfrm>
            <a:off x="7900416" y="3858768"/>
            <a:ext cx="3154680" cy="93268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65008" y="3941063"/>
            <a:ext cx="960120" cy="237744"/>
          </a:xfrm>
          <a:prstGeom prst="rect">
            <a:avLst/>
          </a:prstGeom>
          <a:noFill/>
        </p:spPr>
        <p:txBody>
          <a:bodyPr wrap="square" lIns="18288" tIns="18288" rIns="18288" bIns="18288" anchor="ctr">
            <a:spAutoFit/>
          </a:bodyPr>
          <a:lstStyle/>
          <a:p>
            <a:pPr algn="l">
              <a:spcAft>
                <a:spcPts val="0"/>
              </a:spcAft>
              <a:defRPr sz="1000" b="1">
                <a:solidFill>
                  <a:srgbClr val="FFB45F"/>
                </a:solidFill>
                <a:latin typeface="Aptos"/>
              </a:defRPr>
            </a:pPr>
            <a:r>
              <a:t>GOAL</a:t>
            </a:r>
          </a:p>
        </p:txBody>
      </p:sp>
      <p:sp>
        <p:nvSpPr>
          <p:cNvPr id="45" name="TextBox 44"/>
          <p:cNvSpPr txBox="1"/>
          <p:nvPr/>
        </p:nvSpPr>
        <p:spPr>
          <a:xfrm>
            <a:off x="8065008" y="4215384"/>
            <a:ext cx="2798064" cy="4114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Match target; minimize number of pours</a:t>
            </a:r>
          </a:p>
        </p:txBody>
      </p:sp>
      <p:sp>
        <p:nvSpPr>
          <p:cNvPr id="46" name="Rounded Rectangle 45"/>
          <p:cNvSpPr/>
          <p:nvPr/>
        </p:nvSpPr>
        <p:spPr>
          <a:xfrm>
            <a:off x="749808" y="5184648"/>
            <a:ext cx="10296144" cy="676656"/>
          </a:xfrm>
          <a:prstGeom prst="roundRect">
            <a:avLst>
              <a:gd name="adj" fmla="val 12000"/>
            </a:avLst>
          </a:prstGeom>
          <a:solidFill>
            <a:srgbClr val="0D1D2B"/>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32688" y="5294376"/>
            <a:ext cx="1572768" cy="347472"/>
          </a:xfrm>
          <a:prstGeom prst="rect">
            <a:avLst/>
          </a:prstGeom>
          <a:noFill/>
        </p:spPr>
        <p:txBody>
          <a:bodyPr wrap="square" lIns="18288" tIns="18288" rIns="18288" bIns="18288" anchor="ctr">
            <a:spAutoFit/>
          </a:bodyPr>
          <a:lstStyle/>
          <a:p>
            <a:pPr algn="l">
              <a:spcAft>
                <a:spcPts val="0"/>
              </a:spcAft>
              <a:defRPr sz="1000" b="1">
                <a:solidFill>
                  <a:srgbClr val="A9BECE"/>
                </a:solidFill>
                <a:latin typeface="Aptos"/>
              </a:defRPr>
            </a:pPr>
            <a:r>
              <a:t>CLASSIC RESULT</a:t>
            </a:r>
          </a:p>
        </p:txBody>
      </p:sp>
      <p:sp>
        <p:nvSpPr>
          <p:cNvPr id="48" name="TextBox 47"/>
          <p:cNvSpPr txBox="1"/>
          <p:nvPr/>
        </p:nvSpPr>
        <p:spPr>
          <a:xfrm>
            <a:off x="2697480" y="5285232"/>
            <a:ext cx="8083296" cy="365760"/>
          </a:xfrm>
          <a:prstGeom prst="rect">
            <a:avLst/>
          </a:prstGeom>
          <a:noFill/>
        </p:spPr>
        <p:txBody>
          <a:bodyPr wrap="square" lIns="18288" tIns="18288" rIns="18288" bIns="18288" anchor="ctr">
            <a:spAutoFit/>
          </a:bodyPr>
          <a:lstStyle/>
          <a:p>
            <a:pPr algn="ctr">
              <a:spcAft>
                <a:spcPts val="0"/>
              </a:spcAft>
              <a:defRPr sz="1600" b="1">
                <a:solidFill>
                  <a:srgbClr val="B9F269"/>
                </a:solidFill>
                <a:latin typeface="Aptos"/>
              </a:defRPr>
            </a:pPr>
            <a:r>
              <a:t>[8,0,0]  →  [3,5,0]  →  …  →  [4,4,0]     /     7 pours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03  /  OUR EXTENSION</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One puzzle. More than one model.</a:t>
            </a:r>
          </a:p>
        </p:txBody>
      </p:sp>
      <p:sp>
        <p:nvSpPr>
          <p:cNvPr id="5" name="TextBox 4"/>
          <p:cNvSpPr txBox="1"/>
          <p:nvPr/>
        </p:nvSpPr>
        <p:spPr>
          <a:xfrm>
            <a:off x="585216" y="1266822"/>
            <a:ext cx="10972800" cy="236988"/>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rPr dirty="0"/>
              <a:t>We generalized the instance</a:t>
            </a:r>
            <a:r>
              <a:rPr lang="pt-PT" dirty="0"/>
              <a:t>-</a:t>
            </a:r>
            <a:r>
              <a:rPr dirty="0"/>
              <a:t>and explored a richer action model.</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9" name="Rounded Rectangle 8"/>
          <p:cNvSpPr/>
          <p:nvPr/>
        </p:nvSpPr>
        <p:spPr>
          <a:xfrm>
            <a:off x="713232" y="1901952"/>
            <a:ext cx="5148072" cy="340156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2139696"/>
            <a:ext cx="4480560" cy="347472"/>
          </a:xfrm>
          <a:prstGeom prst="rect">
            <a:avLst/>
          </a:prstGeom>
          <a:noFill/>
        </p:spPr>
        <p:txBody>
          <a:bodyPr wrap="square" lIns="18288" tIns="18288" rIns="18288" bIns="18288" anchor="ctr">
            <a:spAutoFit/>
          </a:bodyPr>
          <a:lstStyle/>
          <a:p>
            <a:pPr algn="l">
              <a:spcAft>
                <a:spcPts val="0"/>
              </a:spcAft>
              <a:defRPr sz="1300" b="1">
                <a:solidFill>
                  <a:srgbClr val="55D6E8"/>
                </a:solidFill>
                <a:latin typeface="Aptos"/>
              </a:defRPr>
            </a:pPr>
            <a:r>
              <a:t>GENERALIZED POUR SOLVER</a:t>
            </a:r>
          </a:p>
        </p:txBody>
      </p:sp>
      <p:sp>
        <p:nvSpPr>
          <p:cNvPr id="11" name="TextBox 10"/>
          <p:cNvSpPr txBox="1"/>
          <p:nvPr/>
        </p:nvSpPr>
        <p:spPr>
          <a:xfrm>
            <a:off x="987552" y="2688336"/>
            <a:ext cx="4343400" cy="713232"/>
          </a:xfrm>
          <a:prstGeom prst="rect">
            <a:avLst/>
          </a:prstGeom>
          <a:noFill/>
        </p:spPr>
        <p:txBody>
          <a:bodyPr wrap="square" lIns="18288" tIns="18288" rIns="18288" bIns="18288" anchor="ctr">
            <a:spAutoFit/>
          </a:bodyPr>
          <a:lstStyle/>
          <a:p>
            <a:pPr algn="l">
              <a:spcAft>
                <a:spcPts val="0"/>
              </a:spcAft>
              <a:defRPr sz="2300" b="1">
                <a:solidFill>
                  <a:srgbClr val="F4F8FB"/>
                </a:solidFill>
                <a:latin typeface="Aptos"/>
              </a:defRPr>
            </a:pPr>
            <a:r>
              <a:t>Not tied to three</a:t>
            </a:r>
          </a:p>
          <a:p>
            <a:pPr algn="l">
              <a:spcAft>
                <a:spcPts val="0"/>
              </a:spcAft>
              <a:defRPr sz="2300" b="1">
                <a:solidFill>
                  <a:srgbClr val="F4F8FB"/>
                </a:solidFill>
                <a:latin typeface="Aptos"/>
              </a:defRPr>
            </a:pPr>
            <a:r>
              <a:t>specific buckets.</a:t>
            </a:r>
          </a:p>
        </p:txBody>
      </p:sp>
      <p:sp>
        <p:nvSpPr>
          <p:cNvPr id="12" name="Oval 11"/>
          <p:cNvSpPr/>
          <p:nvPr/>
        </p:nvSpPr>
        <p:spPr>
          <a:xfrm>
            <a:off x="1005840" y="3721608"/>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52728" y="3666744"/>
            <a:ext cx="4160520" cy="27432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Any bucket count (2+) and capacities</a:t>
            </a:r>
          </a:p>
        </p:txBody>
      </p:sp>
      <p:sp>
        <p:nvSpPr>
          <p:cNvPr id="14" name="Oval 13"/>
          <p:cNvSpPr/>
          <p:nvPr/>
        </p:nvSpPr>
        <p:spPr>
          <a:xfrm>
            <a:off x="1005840" y="4187952"/>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52728" y="4133088"/>
            <a:ext cx="4160520" cy="27432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Custom starting amounts</a:t>
            </a:r>
          </a:p>
        </p:txBody>
      </p:sp>
      <p:sp>
        <p:nvSpPr>
          <p:cNvPr id="16" name="Oval 15"/>
          <p:cNvSpPr/>
          <p:nvPr/>
        </p:nvSpPr>
        <p:spPr>
          <a:xfrm>
            <a:off x="1005840" y="4654296"/>
            <a:ext cx="128016" cy="128016"/>
          </a:xfrm>
          <a:prstGeom prst="ellipse">
            <a:avLst/>
          </a:prstGeom>
          <a:solidFill>
            <a:srgbClr val="55D6E8"/>
          </a:solidFill>
          <a:ln>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52728" y="4599432"/>
            <a:ext cx="4160520" cy="27432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Partial goals with “any amount”</a:t>
            </a:r>
          </a:p>
        </p:txBody>
      </p:sp>
      <p:sp>
        <p:nvSpPr>
          <p:cNvPr id="18" name="Rounded Rectangle 17"/>
          <p:cNvSpPr/>
          <p:nvPr/>
        </p:nvSpPr>
        <p:spPr>
          <a:xfrm>
            <a:off x="6199632" y="1901952"/>
            <a:ext cx="5074920" cy="340156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2139696"/>
            <a:ext cx="4480560" cy="347472"/>
          </a:xfrm>
          <a:prstGeom prst="rect">
            <a:avLst/>
          </a:prstGeom>
          <a:noFill/>
        </p:spPr>
        <p:txBody>
          <a:bodyPr wrap="square" lIns="18288" tIns="18288" rIns="18288" bIns="18288" anchor="ctr">
            <a:spAutoFit/>
          </a:bodyPr>
          <a:lstStyle/>
          <a:p>
            <a:pPr algn="l">
              <a:spcAft>
                <a:spcPts val="0"/>
              </a:spcAft>
              <a:defRPr sz="1300" b="1">
                <a:solidFill>
                  <a:srgbClr val="B9F269"/>
                </a:solidFill>
                <a:latin typeface="Aptos"/>
              </a:defRPr>
            </a:pPr>
            <a:r>
              <a:t>SCHEDULING EXTENSION</a:t>
            </a:r>
          </a:p>
        </p:txBody>
      </p:sp>
      <p:sp>
        <p:nvSpPr>
          <p:cNvPr id="20" name="TextBox 19"/>
          <p:cNvSpPr txBox="1"/>
          <p:nvPr/>
        </p:nvSpPr>
        <p:spPr>
          <a:xfrm>
            <a:off x="6473952" y="2688336"/>
            <a:ext cx="4343400" cy="713232"/>
          </a:xfrm>
          <a:prstGeom prst="rect">
            <a:avLst/>
          </a:prstGeom>
          <a:noFill/>
        </p:spPr>
        <p:txBody>
          <a:bodyPr wrap="square" lIns="18288" tIns="9144" rIns="18288" bIns="9144" anchor="ctr">
            <a:spAutoFit/>
          </a:bodyPr>
          <a:lstStyle/>
          <a:p>
            <a:pPr algn="l">
              <a:spcAft>
                <a:spcPts val="0"/>
              </a:spcAft>
              <a:defRPr sz="2000" b="1">
                <a:solidFill>
                  <a:srgbClr val="F4F8FB"/>
                </a:solidFill>
                <a:latin typeface="Aptos"/>
              </a:defRPr>
            </a:pPr>
            <a:r>
              <a:t>Complete actions.</a:t>
            </a:r>
            <a:br/>
            <a:r>
              <a:t>No amounts to choose.</a:t>
            </a:r>
          </a:p>
        </p:txBody>
      </p:sp>
      <p:sp>
        <p:nvSpPr>
          <p:cNvPr id="21" name="Rounded Rectangle 20"/>
          <p:cNvSpPr/>
          <p:nvPr/>
        </p:nvSpPr>
        <p:spPr>
          <a:xfrm>
            <a:off x="6492240" y="3749039"/>
            <a:ext cx="1307592" cy="457200"/>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7959" y="3776472"/>
            <a:ext cx="1207008" cy="365760"/>
          </a:xfrm>
          <a:prstGeom prst="rect">
            <a:avLst/>
          </a:prstGeom>
          <a:noFill/>
        </p:spPr>
        <p:txBody>
          <a:bodyPr wrap="square" lIns="18288" tIns="18288" rIns="18288" bIns="18288" anchor="ctr">
            <a:spAutoFit/>
          </a:bodyPr>
          <a:lstStyle/>
          <a:p>
            <a:pPr algn="ctr">
              <a:spcAft>
                <a:spcPts val="0"/>
              </a:spcAft>
              <a:defRPr sz="1100" b="1">
                <a:solidFill>
                  <a:srgbClr val="55D6E8"/>
                </a:solidFill>
                <a:latin typeface="Aptos"/>
              </a:defRPr>
            </a:pPr>
            <a:r>
              <a:t>FILL</a:t>
            </a:r>
          </a:p>
        </p:txBody>
      </p:sp>
      <p:sp>
        <p:nvSpPr>
          <p:cNvPr id="23" name="Rounded Rectangle 22"/>
          <p:cNvSpPr/>
          <p:nvPr/>
        </p:nvSpPr>
        <p:spPr>
          <a:xfrm>
            <a:off x="7982712" y="3749039"/>
            <a:ext cx="1307592" cy="457200"/>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28432" y="3776472"/>
            <a:ext cx="1207008" cy="365760"/>
          </a:xfrm>
          <a:prstGeom prst="rect">
            <a:avLst/>
          </a:prstGeom>
          <a:noFill/>
        </p:spPr>
        <p:txBody>
          <a:bodyPr wrap="square" lIns="18288" tIns="18288" rIns="18288" bIns="18288" anchor="ctr">
            <a:spAutoFit/>
          </a:bodyPr>
          <a:lstStyle/>
          <a:p>
            <a:pPr algn="ctr">
              <a:spcAft>
                <a:spcPts val="0"/>
              </a:spcAft>
              <a:defRPr sz="1100" b="1">
                <a:solidFill>
                  <a:srgbClr val="FFB45F"/>
                </a:solidFill>
                <a:latin typeface="Aptos"/>
              </a:defRPr>
            </a:pPr>
            <a:r>
              <a:t>EMPTY</a:t>
            </a:r>
          </a:p>
        </p:txBody>
      </p:sp>
      <p:sp>
        <p:nvSpPr>
          <p:cNvPr id="25" name="Rounded Rectangle 24"/>
          <p:cNvSpPr/>
          <p:nvPr/>
        </p:nvSpPr>
        <p:spPr>
          <a:xfrm>
            <a:off x="9473184" y="3749039"/>
            <a:ext cx="1307592" cy="457200"/>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18904" y="3776472"/>
            <a:ext cx="1207008" cy="365760"/>
          </a:xfrm>
          <a:prstGeom prst="rect">
            <a:avLst/>
          </a:prstGeom>
          <a:noFill/>
        </p:spPr>
        <p:txBody>
          <a:bodyPr wrap="square" lIns="18288" tIns="18288" rIns="18288" bIns="18288" anchor="ctr">
            <a:spAutoFit/>
          </a:bodyPr>
          <a:lstStyle/>
          <a:p>
            <a:pPr algn="ctr">
              <a:spcAft>
                <a:spcPts val="0"/>
              </a:spcAft>
              <a:defRPr sz="1100" b="1">
                <a:solidFill>
                  <a:srgbClr val="B9F269"/>
                </a:solidFill>
                <a:latin typeface="Aptos"/>
              </a:defRPr>
            </a:pPr>
            <a:r>
              <a:t>POUR</a:t>
            </a:r>
          </a:p>
        </p:txBody>
      </p:sp>
      <p:sp>
        <p:nvSpPr>
          <p:cNvPr id="27" name="TextBox 26"/>
          <p:cNvSpPr txBox="1"/>
          <p:nvPr/>
        </p:nvSpPr>
        <p:spPr>
          <a:xfrm>
            <a:off x="6492240" y="4736592"/>
            <a:ext cx="4361688" cy="384048"/>
          </a:xfrm>
          <a:prstGeom prst="rect">
            <a:avLst/>
          </a:prstGeom>
          <a:noFill/>
        </p:spPr>
        <p:txBody>
          <a:bodyPr wrap="square" lIns="18288" tIns="9144" rIns="18288" bIns="9144" anchor="ctr">
            <a:spAutoFit/>
          </a:bodyPr>
          <a:lstStyle/>
          <a:p>
            <a:pPr algn="l">
              <a:spcAft>
                <a:spcPts val="0"/>
              </a:spcAft>
              <a:defRPr sz="1050" b="0">
                <a:solidFill>
                  <a:srgbClr val="A9BECE"/>
                </a:solidFill>
                <a:latin typeface="Aptos"/>
              </a:defRPr>
            </a:pPr>
            <a:r>
              <a:t>Independent actions can share a time unit when their buckets do not overlap.</a:t>
            </a:r>
          </a:p>
        </p:txBody>
      </p:sp>
      <p:sp>
        <p:nvSpPr>
          <p:cNvPr id="28" name="TextBox 27"/>
          <p:cNvSpPr txBox="1"/>
          <p:nvPr/>
        </p:nvSpPr>
        <p:spPr>
          <a:xfrm>
            <a:off x="6492240" y="5120640"/>
            <a:ext cx="4361688" cy="164592"/>
          </a:xfrm>
          <a:prstGeom prst="rect">
            <a:avLst/>
          </a:prstGeom>
          <a:noFill/>
        </p:spPr>
        <p:txBody>
          <a:bodyPr wrap="square" lIns="18288" tIns="18288" rIns="18288" bIns="18288" anchor="ctr">
            <a:spAutoFit/>
          </a:bodyPr>
          <a:lstStyle/>
          <a:p>
            <a:pPr algn="l">
              <a:spcAft>
                <a:spcPts val="0"/>
              </a:spcAft>
              <a:defRPr sz="1000" b="1">
                <a:solidFill>
                  <a:srgbClr val="B9F269"/>
                </a:solidFill>
                <a:latin typeface="Aptos"/>
              </a:defRPr>
            </a:pPr>
            <a:r>
              <a:t>OBJECTIVE: MINIMIZE MAKESPAN</a:t>
            </a:r>
          </a:p>
        </p:txBody>
      </p:sp>
      <p:sp>
        <p:nvSpPr>
          <p:cNvPr id="29" name="TextBox 28"/>
          <p:cNvSpPr txBox="1"/>
          <p:nvPr/>
        </p:nvSpPr>
        <p:spPr>
          <a:xfrm>
            <a:off x="6492240" y="4261104"/>
            <a:ext cx="1307592" cy="438912"/>
          </a:xfrm>
          <a:prstGeom prst="rect">
            <a:avLst/>
          </a:prstGeom>
          <a:noFill/>
        </p:spPr>
        <p:txBody>
          <a:bodyPr wrap="square" lIns="18288" tIns="9144" rIns="18288" bIns="9144" anchor="ctr">
            <a:spAutoFit/>
          </a:bodyPr>
          <a:lstStyle/>
          <a:p>
            <a:pPr algn="ctr">
              <a:defRPr sz="1000" b="0">
                <a:solidFill>
                  <a:srgbClr val="A9BECE"/>
                </a:solidFill>
                <a:latin typeface="Aptos"/>
              </a:defRPr>
            </a:pPr>
            <a:r>
              <a:t>Fill to</a:t>
            </a:r>
            <a:br/>
            <a:r>
              <a:t>capacity</a:t>
            </a:r>
          </a:p>
        </p:txBody>
      </p:sp>
      <p:sp>
        <p:nvSpPr>
          <p:cNvPr id="30" name="TextBox 29"/>
          <p:cNvSpPr txBox="1"/>
          <p:nvPr/>
        </p:nvSpPr>
        <p:spPr>
          <a:xfrm>
            <a:off x="7982712" y="4261104"/>
            <a:ext cx="1307592" cy="438912"/>
          </a:xfrm>
          <a:prstGeom prst="rect">
            <a:avLst/>
          </a:prstGeom>
          <a:noFill/>
        </p:spPr>
        <p:txBody>
          <a:bodyPr wrap="square" lIns="18288" tIns="9144" rIns="18288" bIns="9144" anchor="ctr">
            <a:spAutoFit/>
          </a:bodyPr>
          <a:lstStyle/>
          <a:p>
            <a:pPr algn="ctr">
              <a:defRPr sz="1000" b="0">
                <a:solidFill>
                  <a:srgbClr val="A9BECE"/>
                </a:solidFill>
                <a:latin typeface="Aptos"/>
              </a:defRPr>
            </a:pPr>
            <a:r>
              <a:t>Discard all</a:t>
            </a:r>
            <a:br/>
            <a:r>
              <a:t>water</a:t>
            </a:r>
          </a:p>
        </p:txBody>
      </p:sp>
      <p:sp>
        <p:nvSpPr>
          <p:cNvPr id="31" name="TextBox 30"/>
          <p:cNvSpPr txBox="1"/>
          <p:nvPr/>
        </p:nvSpPr>
        <p:spPr>
          <a:xfrm>
            <a:off x="9473184" y="4261104"/>
            <a:ext cx="1307592" cy="438912"/>
          </a:xfrm>
          <a:prstGeom prst="rect">
            <a:avLst/>
          </a:prstGeom>
          <a:noFill/>
        </p:spPr>
        <p:txBody>
          <a:bodyPr wrap="square" lIns="18288" tIns="9144" rIns="18288" bIns="9144" anchor="ctr">
            <a:spAutoFit/>
          </a:bodyPr>
          <a:lstStyle/>
          <a:p>
            <a:pPr algn="ctr">
              <a:defRPr sz="1000" b="0">
                <a:solidFill>
                  <a:srgbClr val="A9BECE"/>
                </a:solidFill>
                <a:latin typeface="Aptos"/>
              </a:defRPr>
            </a:pPr>
            <a:r>
              <a:t>Transfer the</a:t>
            </a:r>
            <a:br/>
            <a:r>
              <a:t>maximum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04  /  WHAT WE LEARNED</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The hard part was getting the details right.</a:t>
            </a:r>
          </a:p>
        </p:txBody>
      </p:sp>
      <p:sp>
        <p:nvSpPr>
          <p:cNvPr id="5" name="TextBox 4"/>
          <p:cNvSpPr txBox="1"/>
          <p:nvPr/>
        </p:nvSpPr>
        <p:spPr>
          <a:xfrm>
            <a:off x="585216" y="1266822"/>
            <a:ext cx="10972800" cy="236988"/>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rPr dirty="0"/>
              <a:t>Small modeling choices shape correctness</a:t>
            </a:r>
            <a:r>
              <a:rPr lang="pt-PT" dirty="0"/>
              <a:t>-</a:t>
            </a:r>
            <a:r>
              <a:rPr dirty="0"/>
              <a:t>and how quickly a solver finds an answer.</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14" name="Rounded Rectangle 13"/>
          <p:cNvSpPr/>
          <p:nvPr/>
        </p:nvSpPr>
        <p:spPr>
          <a:xfrm>
            <a:off x="2264664" y="2121408"/>
            <a:ext cx="3300984" cy="253288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3264" y="2390084"/>
            <a:ext cx="594360" cy="221599"/>
          </a:xfrm>
          <a:prstGeom prst="rect">
            <a:avLst/>
          </a:prstGeom>
          <a:noFill/>
        </p:spPr>
        <p:txBody>
          <a:bodyPr wrap="square" lIns="18288" tIns="18288" rIns="18288" bIns="18288" anchor="ctr">
            <a:spAutoFit/>
          </a:bodyPr>
          <a:lstStyle/>
          <a:p>
            <a:pPr algn="l">
              <a:spcAft>
                <a:spcPts val="0"/>
              </a:spcAft>
              <a:defRPr sz="1200" b="1">
                <a:solidFill>
                  <a:srgbClr val="B9F269"/>
                </a:solidFill>
                <a:latin typeface="Aptos"/>
              </a:defRPr>
            </a:pPr>
            <a:r>
              <a:rPr dirty="0"/>
              <a:t>0</a:t>
            </a:r>
            <a:r>
              <a:rPr lang="pt-PT" dirty="0"/>
              <a:t>1</a:t>
            </a:r>
            <a:endParaRPr dirty="0"/>
          </a:p>
        </p:txBody>
      </p:sp>
      <p:cxnSp>
        <p:nvCxnSpPr>
          <p:cNvPr id="16" name="Connector 15"/>
          <p:cNvCxnSpPr/>
          <p:nvPr/>
        </p:nvCxnSpPr>
        <p:spPr>
          <a:xfrm>
            <a:off x="2493264" y="2779776"/>
            <a:ext cx="2798063" cy="0"/>
          </a:xfrm>
          <a:prstGeom prst="line">
            <a:avLst/>
          </a:prstGeom>
          <a:ln w="12700">
            <a:solidFill>
              <a:srgbClr val="2944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93264" y="2926080"/>
            <a:ext cx="2816352" cy="438912"/>
          </a:xfrm>
          <a:prstGeom prst="rect">
            <a:avLst/>
          </a:prstGeom>
          <a:noFill/>
        </p:spPr>
        <p:txBody>
          <a:bodyPr wrap="square" lIns="18288" tIns="18288" rIns="18288" bIns="18288" anchor="ctr">
            <a:spAutoFit/>
          </a:bodyPr>
          <a:lstStyle/>
          <a:p>
            <a:pPr algn="l">
              <a:spcAft>
                <a:spcPts val="0"/>
              </a:spcAft>
              <a:defRPr sz="1800" b="1">
                <a:solidFill>
                  <a:srgbClr val="F4F8FB"/>
                </a:solidFill>
                <a:latin typeface="Aptos"/>
              </a:defRPr>
            </a:pPr>
            <a:r>
              <a:t>Useful instances</a:t>
            </a:r>
          </a:p>
        </p:txBody>
      </p:sp>
      <p:sp>
        <p:nvSpPr>
          <p:cNvPr id="18" name="TextBox 17"/>
          <p:cNvSpPr txBox="1"/>
          <p:nvPr/>
        </p:nvSpPr>
        <p:spPr>
          <a:xfrm>
            <a:off x="2493264" y="3474720"/>
            <a:ext cx="2816352" cy="950976"/>
          </a:xfrm>
          <a:prstGeom prst="rect">
            <a:avLst/>
          </a:prstGeom>
          <a:noFill/>
        </p:spPr>
        <p:txBody>
          <a:bodyPr wrap="square" lIns="18288" tIns="18288" rIns="18288" bIns="18288" anchor="t">
            <a:spAutoFit/>
          </a:bodyPr>
          <a:lstStyle/>
          <a:p>
            <a:pPr algn="l">
              <a:spcAft>
                <a:spcPts val="0"/>
              </a:spcAft>
              <a:defRPr sz="1200" b="0">
                <a:solidFill>
                  <a:srgbClr val="A9BECE"/>
                </a:solidFill>
                <a:latin typeface="Aptos"/>
              </a:defRPr>
            </a:pPr>
            <a:r>
              <a:t>Validate capacities and amounts; represent “don’t care” goals without weakening the other targets.</a:t>
            </a:r>
          </a:p>
        </p:txBody>
      </p:sp>
      <p:sp>
        <p:nvSpPr>
          <p:cNvPr id="19" name="Rounded Rectangle 18"/>
          <p:cNvSpPr/>
          <p:nvPr/>
        </p:nvSpPr>
        <p:spPr>
          <a:xfrm>
            <a:off x="5867400" y="2121408"/>
            <a:ext cx="3300984" cy="2532888"/>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96000" y="2390084"/>
            <a:ext cx="594360" cy="221599"/>
          </a:xfrm>
          <a:prstGeom prst="rect">
            <a:avLst/>
          </a:prstGeom>
          <a:noFill/>
        </p:spPr>
        <p:txBody>
          <a:bodyPr wrap="square" lIns="18288" tIns="18288" rIns="18288" bIns="18288" anchor="ctr">
            <a:spAutoFit/>
          </a:bodyPr>
          <a:lstStyle/>
          <a:p>
            <a:pPr algn="l">
              <a:spcAft>
                <a:spcPts val="0"/>
              </a:spcAft>
              <a:defRPr sz="1200" b="1">
                <a:solidFill>
                  <a:srgbClr val="FFB45F"/>
                </a:solidFill>
                <a:latin typeface="Aptos"/>
              </a:defRPr>
            </a:pPr>
            <a:r>
              <a:rPr dirty="0"/>
              <a:t>0</a:t>
            </a:r>
            <a:r>
              <a:rPr lang="pt-PT" dirty="0"/>
              <a:t>2</a:t>
            </a:r>
            <a:endParaRPr dirty="0"/>
          </a:p>
        </p:txBody>
      </p:sp>
      <p:cxnSp>
        <p:nvCxnSpPr>
          <p:cNvPr id="21" name="Connector 20"/>
          <p:cNvCxnSpPr/>
          <p:nvPr/>
        </p:nvCxnSpPr>
        <p:spPr>
          <a:xfrm>
            <a:off x="6096000" y="2779776"/>
            <a:ext cx="2798064" cy="0"/>
          </a:xfrm>
          <a:prstGeom prst="line">
            <a:avLst/>
          </a:prstGeom>
          <a:ln w="12700">
            <a:solidFill>
              <a:srgbClr val="29445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000" y="2926080"/>
            <a:ext cx="2816352" cy="438912"/>
          </a:xfrm>
          <a:prstGeom prst="rect">
            <a:avLst/>
          </a:prstGeom>
          <a:noFill/>
        </p:spPr>
        <p:txBody>
          <a:bodyPr wrap="square" lIns="18288" tIns="18288" rIns="18288" bIns="18288" anchor="ctr">
            <a:spAutoFit/>
          </a:bodyPr>
          <a:lstStyle/>
          <a:p>
            <a:pPr algn="l">
              <a:spcAft>
                <a:spcPts val="0"/>
              </a:spcAft>
              <a:defRPr sz="1800" b="1">
                <a:solidFill>
                  <a:srgbClr val="F4F8FB"/>
                </a:solidFill>
                <a:latin typeface="Aptos"/>
              </a:defRPr>
            </a:pPr>
            <a:r>
              <a:t>Search discipline</a:t>
            </a:r>
          </a:p>
        </p:txBody>
      </p:sp>
      <p:sp>
        <p:nvSpPr>
          <p:cNvPr id="23" name="TextBox 22"/>
          <p:cNvSpPr txBox="1"/>
          <p:nvPr/>
        </p:nvSpPr>
        <p:spPr>
          <a:xfrm>
            <a:off x="6096000" y="3474720"/>
            <a:ext cx="2816352" cy="950976"/>
          </a:xfrm>
          <a:prstGeom prst="rect">
            <a:avLst/>
          </a:prstGeom>
          <a:noFill/>
        </p:spPr>
        <p:txBody>
          <a:bodyPr wrap="square" lIns="18288" tIns="18288" rIns="18288" bIns="18288" anchor="t">
            <a:spAutoFit/>
          </a:bodyPr>
          <a:lstStyle/>
          <a:p>
            <a:pPr algn="l">
              <a:spcAft>
                <a:spcPts val="0"/>
              </a:spcAft>
              <a:defRPr sz="1200" b="0">
                <a:solidFill>
                  <a:srgbClr val="A9BECE"/>
                </a:solidFill>
                <a:latin typeface="Aptos"/>
              </a:defRPr>
            </a:pPr>
            <a:r>
              <a:rPr dirty="0"/>
              <a:t>Bound the horizon and remove redundant padded steps so search focuses on meaningful choices.</a:t>
            </a:r>
          </a:p>
        </p:txBody>
      </p:sp>
      <p:sp>
        <p:nvSpPr>
          <p:cNvPr id="24" name="Rounded Rectangle 23"/>
          <p:cNvSpPr/>
          <p:nvPr/>
        </p:nvSpPr>
        <p:spPr>
          <a:xfrm>
            <a:off x="713232" y="5093208"/>
            <a:ext cx="10442448" cy="65836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193792"/>
            <a:ext cx="10021824" cy="402336"/>
          </a:xfrm>
          <a:prstGeom prst="rect">
            <a:avLst/>
          </a:prstGeom>
          <a:noFill/>
        </p:spPr>
        <p:txBody>
          <a:bodyPr wrap="square" lIns="18288" tIns="18288" rIns="18288" bIns="18288" anchor="ctr">
            <a:spAutoFit/>
          </a:bodyPr>
          <a:lstStyle/>
          <a:p>
            <a:pPr algn="ctr">
              <a:spcAft>
                <a:spcPts val="0"/>
              </a:spcAft>
              <a:defRPr sz="1300" b="1">
                <a:solidFill>
                  <a:srgbClr val="F4F8FB"/>
                </a:solidFill>
                <a:latin typeface="Aptos"/>
              </a:defRPr>
            </a:pPr>
            <a:r>
              <a:t>TAKEAWAY    A good CSP is both a precise description of the rules and a practical search 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522"/>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5D6E8"/>
          </a:solidFill>
          <a:ln w="12700">
            <a:solidFill>
              <a:srgbClr val="55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92608"/>
            <a:ext cx="7315200" cy="219456"/>
          </a:xfrm>
          <a:prstGeom prst="rect">
            <a:avLst/>
          </a:prstGeom>
          <a:noFill/>
        </p:spPr>
        <p:txBody>
          <a:bodyPr wrap="square" lIns="18288" tIns="18288" rIns="18288" bIns="18288" anchor="ctr">
            <a:spAutoFit/>
          </a:bodyPr>
          <a:lstStyle/>
          <a:p>
            <a:pPr algn="l">
              <a:spcAft>
                <a:spcPts val="0"/>
              </a:spcAft>
              <a:defRPr sz="1000" b="1">
                <a:solidFill>
                  <a:srgbClr val="55D6E8"/>
                </a:solidFill>
                <a:latin typeface="Aptos"/>
              </a:defRPr>
            </a:pPr>
            <a:r>
              <a:t>05  /  HAND-OFF</a:t>
            </a:r>
          </a:p>
        </p:txBody>
      </p:sp>
      <p:sp>
        <p:nvSpPr>
          <p:cNvPr id="4" name="TextBox 3"/>
          <p:cNvSpPr txBox="1"/>
          <p:nvPr/>
        </p:nvSpPr>
        <p:spPr>
          <a:xfrm>
            <a:off x="566928" y="640080"/>
            <a:ext cx="10972800" cy="566928"/>
          </a:xfrm>
          <a:prstGeom prst="rect">
            <a:avLst/>
          </a:prstGeom>
          <a:noFill/>
        </p:spPr>
        <p:txBody>
          <a:bodyPr wrap="square" lIns="18288" tIns="18288" rIns="18288" bIns="18288" anchor="ctr">
            <a:spAutoFit/>
          </a:bodyPr>
          <a:lstStyle/>
          <a:p>
            <a:pPr algn="l">
              <a:spcAft>
                <a:spcPts val="0"/>
              </a:spcAft>
              <a:defRPr sz="2900" b="1">
                <a:solidFill>
                  <a:srgbClr val="F4F8FB"/>
                </a:solidFill>
                <a:latin typeface="Aptos"/>
              </a:defRPr>
            </a:pPr>
            <a:r>
              <a:t>A constraint model becomes a usable tool.</a:t>
            </a:r>
          </a:p>
        </p:txBody>
      </p:sp>
      <p:sp>
        <p:nvSpPr>
          <p:cNvPr id="5" name="TextBox 4"/>
          <p:cNvSpPr txBox="1"/>
          <p:nvPr/>
        </p:nvSpPr>
        <p:spPr>
          <a:xfrm>
            <a:off x="585216" y="1225296"/>
            <a:ext cx="10972800" cy="320040"/>
          </a:xfrm>
          <a:prstGeom prst="rect">
            <a:avLst/>
          </a:prstGeom>
          <a:noFill/>
        </p:spPr>
        <p:txBody>
          <a:bodyPr wrap="square" lIns="18288" tIns="18288" rIns="18288" bIns="18288" anchor="ctr">
            <a:spAutoFit/>
          </a:bodyPr>
          <a:lstStyle/>
          <a:p>
            <a:pPr algn="l">
              <a:spcAft>
                <a:spcPts val="0"/>
              </a:spcAft>
              <a:defRPr sz="1300" b="0">
                <a:solidFill>
                  <a:srgbClr val="A9BECE"/>
                </a:solidFill>
                <a:latin typeface="Aptos"/>
              </a:defRPr>
            </a:pPr>
            <a:r>
              <a:t>That’s the core idea. Next, we’ll run the solver on real instances.</a:t>
            </a:r>
          </a:p>
        </p:txBody>
      </p:sp>
      <p:cxnSp>
        <p:nvCxnSpPr>
          <p:cNvPr id="6" name="Connector 5"/>
          <p:cNvCxnSpPr/>
          <p:nvPr/>
        </p:nvCxnSpPr>
        <p:spPr>
          <a:xfrm>
            <a:off x="585216" y="6437376"/>
            <a:ext cx="11027664" cy="0"/>
          </a:xfrm>
          <a:prstGeom prst="line">
            <a:avLst/>
          </a:prstGeom>
          <a:ln w="10160">
            <a:solidFill>
              <a:srgbClr val="2944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6400800" cy="201168"/>
          </a:xfrm>
          <a:prstGeom prst="rect">
            <a:avLst/>
          </a:prstGeom>
          <a:noFill/>
        </p:spPr>
        <p:txBody>
          <a:bodyPr wrap="square" lIns="18288" tIns="18288" rIns="18288" bIns="18288" anchor="ctr">
            <a:spAutoFit/>
          </a:bodyPr>
          <a:lstStyle/>
          <a:p>
            <a:pPr algn="l">
              <a:spcAft>
                <a:spcPts val="0"/>
              </a:spcAft>
              <a:defRPr sz="900" b="1">
                <a:solidFill>
                  <a:srgbClr val="A9BECE"/>
                </a:solidFill>
                <a:latin typeface="Aptos"/>
              </a:defRPr>
            </a:pPr>
            <a:r>
              <a:t>WATER BUCKETS  /  CSPLIB #018</a:t>
            </a:r>
          </a:p>
        </p:txBody>
      </p:sp>
      <p:sp>
        <p:nvSpPr>
          <p:cNvPr id="9" name="Rounded Rectangle 8"/>
          <p:cNvSpPr/>
          <p:nvPr/>
        </p:nvSpPr>
        <p:spPr>
          <a:xfrm>
            <a:off x="713232" y="1965960"/>
            <a:ext cx="4983480" cy="2002536"/>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2231136"/>
            <a:ext cx="4389120" cy="292608"/>
          </a:xfrm>
          <a:prstGeom prst="rect">
            <a:avLst/>
          </a:prstGeom>
          <a:noFill/>
        </p:spPr>
        <p:txBody>
          <a:bodyPr wrap="square" lIns="18288" tIns="18288" rIns="18288" bIns="18288" anchor="ctr">
            <a:spAutoFit/>
          </a:bodyPr>
          <a:lstStyle/>
          <a:p>
            <a:pPr algn="l">
              <a:spcAft>
                <a:spcPts val="0"/>
              </a:spcAft>
              <a:defRPr sz="1100" b="1">
                <a:solidFill>
                  <a:srgbClr val="55D6E8"/>
                </a:solidFill>
                <a:latin typeface="Aptos"/>
              </a:defRPr>
            </a:pPr>
            <a:r>
              <a:t>WHAT WE BUILT</a:t>
            </a:r>
          </a:p>
        </p:txBody>
      </p:sp>
      <p:sp>
        <p:nvSpPr>
          <p:cNvPr id="11" name="TextBox 10"/>
          <p:cNvSpPr txBox="1"/>
          <p:nvPr/>
        </p:nvSpPr>
        <p:spPr>
          <a:xfrm>
            <a:off x="987552" y="2688336"/>
            <a:ext cx="4343400" cy="932688"/>
          </a:xfrm>
          <a:prstGeom prst="rect">
            <a:avLst/>
          </a:prstGeom>
          <a:noFill/>
        </p:spPr>
        <p:txBody>
          <a:bodyPr wrap="square" lIns="18288" tIns="18288" rIns="18288" bIns="18288" anchor="ctr">
            <a:spAutoFit/>
          </a:bodyPr>
          <a:lstStyle/>
          <a:p>
            <a:pPr algn="l">
              <a:spcAft>
                <a:spcPts val="0"/>
              </a:spcAft>
              <a:defRPr sz="2100" b="1">
                <a:solidFill>
                  <a:srgbClr val="F4F8FB"/>
                </a:solidFill>
                <a:latin typeface="Aptos"/>
              </a:defRPr>
            </a:pPr>
            <a:r>
              <a:t>Instance → model → solver</a:t>
            </a:r>
          </a:p>
          <a:p>
            <a:pPr algn="l">
              <a:spcAft>
                <a:spcPts val="0"/>
              </a:spcAft>
              <a:defRPr sz="2100" b="1">
                <a:solidFill>
                  <a:srgbClr val="F4F8FB"/>
                </a:solidFill>
                <a:latin typeface="Aptos"/>
              </a:defRPr>
            </a:pPr>
            <a:r>
              <a:t>→ readable solution</a:t>
            </a:r>
          </a:p>
        </p:txBody>
      </p:sp>
      <p:sp>
        <p:nvSpPr>
          <p:cNvPr id="12" name="Rounded Rectangle 11"/>
          <p:cNvSpPr/>
          <p:nvPr/>
        </p:nvSpPr>
        <p:spPr>
          <a:xfrm>
            <a:off x="6089904" y="1965960"/>
            <a:ext cx="5175504" cy="2002536"/>
          </a:xfrm>
          <a:prstGeom prst="roundRect">
            <a:avLst>
              <a:gd name="adj" fmla="val 12000"/>
            </a:avLst>
          </a:prstGeom>
          <a:solidFill>
            <a:srgbClr val="102538"/>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4224" y="2231136"/>
            <a:ext cx="4480560" cy="292608"/>
          </a:xfrm>
          <a:prstGeom prst="rect">
            <a:avLst/>
          </a:prstGeom>
          <a:noFill/>
        </p:spPr>
        <p:txBody>
          <a:bodyPr wrap="square" lIns="18288" tIns="18288" rIns="18288" bIns="18288" anchor="ctr">
            <a:spAutoFit/>
          </a:bodyPr>
          <a:lstStyle/>
          <a:p>
            <a:pPr algn="l">
              <a:spcAft>
                <a:spcPts val="0"/>
              </a:spcAft>
              <a:defRPr sz="1100" b="1">
                <a:solidFill>
                  <a:srgbClr val="B9F269"/>
                </a:solidFill>
                <a:latin typeface="Aptos"/>
              </a:defRPr>
            </a:pPr>
            <a:r>
              <a:t>TOOLS &amp; TRANSPARENCY</a:t>
            </a:r>
          </a:p>
        </p:txBody>
      </p:sp>
      <p:sp>
        <p:nvSpPr>
          <p:cNvPr id="14" name="TextBox 13"/>
          <p:cNvSpPr txBox="1"/>
          <p:nvPr/>
        </p:nvSpPr>
        <p:spPr>
          <a:xfrm>
            <a:off x="6364224" y="2633472"/>
            <a:ext cx="4572000" cy="1097280"/>
          </a:xfrm>
          <a:prstGeom prst="rect">
            <a:avLst/>
          </a:prstGeom>
          <a:noFill/>
        </p:spPr>
        <p:txBody>
          <a:bodyPr wrap="square" lIns="18288" tIns="18288" rIns="18288" bIns="18288" anchor="ctr">
            <a:spAutoFit/>
          </a:bodyPr>
          <a:lstStyle/>
          <a:p>
            <a:pPr algn="l">
              <a:spcAft>
                <a:spcPts val="0"/>
              </a:spcAft>
              <a:defRPr sz="1200" b="0">
                <a:solidFill>
                  <a:srgbClr val="F4F8FB"/>
                </a:solidFill>
                <a:latin typeface="Aptos"/>
              </a:defRPr>
            </a:pPr>
            <a:r>
              <a:t>Python  •  MiniZinc  •  Gecode</a:t>
            </a:r>
          </a:p>
          <a:p>
            <a:pPr algn="l">
              <a:spcAft>
                <a:spcPts val="0"/>
              </a:spcAft>
              <a:defRPr sz="1200" b="0">
                <a:solidFill>
                  <a:srgbClr val="F4F8FB"/>
                </a:solidFill>
                <a:latin typeface="Aptos"/>
              </a:defRPr>
            </a:pPr>
            <a:r>
              <a:t>Generative AI supported implementation drafts;</a:t>
            </a:r>
          </a:p>
          <a:p>
            <a:pPr algn="l">
              <a:spcAft>
                <a:spcPts val="0"/>
              </a:spcAft>
              <a:defRPr sz="1200" b="0">
                <a:solidFill>
                  <a:srgbClr val="F4F8FB"/>
                </a:solidFill>
                <a:latin typeface="Aptos"/>
              </a:defRPr>
            </a:pPr>
            <a:r>
              <a:t>we reviewed, adapted and tested the output.</a:t>
            </a:r>
          </a:p>
        </p:txBody>
      </p:sp>
      <p:sp>
        <p:nvSpPr>
          <p:cNvPr id="15" name="Rounded Rectangle 14"/>
          <p:cNvSpPr/>
          <p:nvPr/>
        </p:nvSpPr>
        <p:spPr>
          <a:xfrm>
            <a:off x="713232" y="4370832"/>
            <a:ext cx="10552176" cy="841248"/>
          </a:xfrm>
          <a:prstGeom prst="roundRect">
            <a:avLst>
              <a:gd name="adj" fmla="val 12000"/>
            </a:avLst>
          </a:prstGeom>
          <a:solidFill>
            <a:srgbClr val="142D42"/>
          </a:solidFill>
          <a:ln w="12700">
            <a:solidFill>
              <a:srgbClr val="294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4489704"/>
            <a:ext cx="10040112" cy="548640"/>
          </a:xfrm>
          <a:prstGeom prst="rect">
            <a:avLst/>
          </a:prstGeom>
          <a:noFill/>
        </p:spPr>
        <p:txBody>
          <a:bodyPr wrap="square" lIns="18288" tIns="18288" rIns="18288" bIns="18288" anchor="ctr">
            <a:spAutoFit/>
          </a:bodyPr>
          <a:lstStyle/>
          <a:p>
            <a:pPr algn="ctr">
              <a:spcAft>
                <a:spcPts val="0"/>
              </a:spcAft>
              <a:defRPr sz="1500" b="1">
                <a:solidFill>
                  <a:srgbClr val="55D6E8"/>
                </a:solidFill>
                <a:latin typeface="Aptos"/>
              </a:defRPr>
            </a:pPr>
            <a:r>
              <a:t>DEMO  /  classic 8–5–3 puzzle  →  generalized four-bucket schedule</a:t>
            </a:r>
          </a:p>
        </p:txBody>
      </p:sp>
      <p:sp>
        <p:nvSpPr>
          <p:cNvPr id="17" name="TextBox 16"/>
          <p:cNvSpPr txBox="1"/>
          <p:nvPr/>
        </p:nvSpPr>
        <p:spPr>
          <a:xfrm>
            <a:off x="786384" y="5596128"/>
            <a:ext cx="10149840" cy="310896"/>
          </a:xfrm>
          <a:prstGeom prst="rect">
            <a:avLst/>
          </a:prstGeom>
          <a:noFill/>
        </p:spPr>
        <p:txBody>
          <a:bodyPr wrap="square" lIns="18288" tIns="18288" rIns="18288" bIns="18288" anchor="ctr">
            <a:spAutoFit/>
          </a:bodyPr>
          <a:lstStyle/>
          <a:p>
            <a:pPr algn="l">
              <a:spcAft>
                <a:spcPts val="0"/>
              </a:spcAft>
              <a:defRPr sz="1100" b="0">
                <a:solidFill>
                  <a:srgbClr val="A9BECE"/>
                </a:solidFill>
                <a:latin typeface="Aptos"/>
              </a:defRPr>
            </a:pPr>
            <a:r>
              <a:t>Replace placeholders with your names; both members should remain visible on camera.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1035</Words>
  <Application>Microsoft Office PowerPoint</Application>
  <PresentationFormat>Widescreen</PresentationFormat>
  <Paragraphs>127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Bucket Problem — CSP Project Presentation</dc:title>
  <dc:subject>Three-minute presentation section for the CSPLib 018 project video</dc:subject>
  <dc:creator>Guilherme Corvelo;Vasco Rodrigues</dc:creator>
  <cp:keywords>CSP, MiniZinc, Gecode, CSPLib 018, water bucket</cp:keywords>
  <dc:description>generated using python-pptx</dc:description>
  <cp:lastModifiedBy>Vasco Alexandre Amado Rodrigues</cp:lastModifiedBy>
  <cp:revision>1</cp:revision>
  <dcterms:created xsi:type="dcterms:W3CDTF">2013-01-27T09:14:16Z</dcterms:created>
  <dcterms:modified xsi:type="dcterms:W3CDTF">2026-10-15T14:24:42Z</dcterms:modified>
  <cp:category/>
</cp:coreProperties>
</file>